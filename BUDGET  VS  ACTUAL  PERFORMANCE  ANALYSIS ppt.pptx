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98" r:id="rId5"/>
    <p:sldId id="283" r:id="rId6"/>
    <p:sldId id="297" r:id="rId7"/>
    <p:sldId id="292" r:id="rId8"/>
    <p:sldId id="284" r:id="rId9"/>
    <p:sldId id="293" r:id="rId10"/>
    <p:sldId id="294" r:id="rId11"/>
    <p:sldId id="295" r:id="rId12"/>
    <p:sldId id="285" r:id="rId13"/>
    <p:sldId id="296" r:id="rId14"/>
    <p:sldId id="2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12" autoAdjust="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outlineViewPr>
    <p:cViewPr>
      <p:scale>
        <a:sx n="33" d="100"/>
        <a:sy n="33" d="100"/>
      </p:scale>
      <p:origin x="0" y="-9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Gross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A-48E7-A321-402E979D220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A-48E7-A321-402E979D2202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DA-48E7-A321-402E979D2202}"/>
              </c:ext>
            </c:extLst>
          </c:dPt>
          <c:cat>
            <c:strRef>
              <c:f>Sheet1!$A$2:$A$6</c:f>
              <c:strCache>
                <c:ptCount val="5"/>
                <c:pt idx="0">
                  <c:v>20YY</c:v>
                </c:pt>
                <c:pt idx="1">
                  <c:v>20YY</c:v>
                </c:pt>
                <c:pt idx="2">
                  <c:v>20YY</c:v>
                </c:pt>
                <c:pt idx="3">
                  <c:v>20YY</c:v>
                </c:pt>
                <c:pt idx="4">
                  <c:v>20YY</c:v>
                </c:pt>
              </c:strCache>
            </c:strRef>
          </c:cat>
          <c:val>
            <c:numRef>
              <c:f>Sheet1!$B$2:$B$6</c:f>
              <c:numCache>
                <c:formatCode>[$$-409]#,##0</c:formatCode>
                <c:ptCount val="5"/>
                <c:pt idx="0">
                  <c:v>0</c:v>
                </c:pt>
                <c:pt idx="1">
                  <c:v>6750</c:v>
                </c:pt>
                <c:pt idx="2">
                  <c:v>33750</c:v>
                </c:pt>
                <c:pt idx="3">
                  <c:v>135000</c:v>
                </c:pt>
                <c:pt idx="4">
                  <c:v>270000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DA-48E7-A321-402E979D2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1000041416"/>
        <c:axId val="1000041744"/>
      </c:barChart>
      <c:catAx>
        <c:axId val="1000041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041744"/>
        <c:crosses val="autoZero"/>
        <c:auto val="1"/>
        <c:lblAlgn val="ctr"/>
        <c:lblOffset val="100"/>
        <c:noMultiLvlLbl val="0"/>
      </c:catAx>
      <c:valAx>
        <c:axId val="1000041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041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Company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/>
            </a:solidFill>
          </c:spPr>
          <c:dPt>
            <c:idx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EFA-4A5E-AB52-FBB4B74C74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A-48E7-A321-402E979D220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BEFA-4A5E-AB52-FBB4B74C74A7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A-48E7-A321-402E979D2202}"/>
              </c:ext>
            </c:extLst>
          </c:dPt>
          <c:dPt>
            <c:idx val="4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DA-48E7-A321-402E979D2202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EFA-4A5E-AB52-FBB4B74C74A7}"/>
                </c:ext>
              </c:extLst>
            </c:dLbl>
            <c:dLbl>
              <c:idx val="1"/>
              <c:layout>
                <c:manualLayout>
                  <c:x val="-0.11615923344937455"/>
                  <c:y val="-0.14002523289348653"/>
                </c:manualLayout>
              </c:layout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DA-48E7-A321-402E979D2202}"/>
                </c:ext>
              </c:extLst>
            </c:dLbl>
            <c:dLbl>
              <c:idx val="2"/>
              <c:layout>
                <c:manualLayout>
                  <c:x val="0.13864166572989867"/>
                  <c:y val="-0.15145586415009771"/>
                </c:manualLayout>
              </c:layout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EFA-4A5E-AB52-FBB4B74C74A7}"/>
                </c:ext>
              </c:extLst>
            </c:dLbl>
            <c:dLbl>
              <c:idx val="3"/>
              <c:layout>
                <c:manualLayout>
                  <c:x val="6.9525299079784011E-2"/>
                  <c:y val="0.28576578141527864"/>
                </c:manualLayout>
              </c:layout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DA-48E7-A321-402E979D2202}"/>
                </c:ext>
              </c:extLst>
            </c:dLbl>
            <c:dLbl>
              <c:idx val="4"/>
              <c:layout>
                <c:manualLayout>
                  <c:x val="-8.1787666114047294E-2"/>
                  <c:y val="0.22861262513222283"/>
                </c:manualLayout>
              </c:layout>
              <c:showLegendKey val="1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ADA-48E7-A321-402E979D220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20YY</c:v>
                </c:pt>
                <c:pt idx="1">
                  <c:v>20YY</c:v>
                </c:pt>
                <c:pt idx="2">
                  <c:v>20YY</c:v>
                </c:pt>
                <c:pt idx="3">
                  <c:v>20YY</c:v>
                </c:pt>
                <c:pt idx="4">
                  <c:v>20YY</c:v>
                </c:pt>
              </c:strCache>
            </c:strRef>
          </c:cat>
          <c:val>
            <c:numRef>
              <c:f>Sheet1!$B$2:$B$6</c:f>
              <c:numCache>
                <c:formatCode>[$$-409]#,##0</c:formatCode>
                <c:ptCount val="5"/>
                <c:pt idx="0">
                  <c:v>0</c:v>
                </c:pt>
                <c:pt idx="1">
                  <c:v>6750</c:v>
                </c:pt>
                <c:pt idx="2">
                  <c:v>33750</c:v>
                </c:pt>
                <c:pt idx="3">
                  <c:v>135000</c:v>
                </c:pt>
                <c:pt idx="4">
                  <c:v>270000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ADA-48E7-A321-402E979D2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Revenue</a:t>
            </a:r>
            <a:r>
              <a:rPr lang="en-US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Over Time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1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0ADA-48E7-A321-402E979D2202}"/>
              </c:ext>
            </c:extLst>
          </c:dPt>
          <c:dPt>
            <c:idx val="3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0ADA-48E7-A321-402E979D2202}"/>
              </c:ext>
            </c:extLst>
          </c:dPt>
          <c:dPt>
            <c:idx val="4"/>
            <c:marker>
              <c:symbol val="circle"/>
              <c:size val="5"/>
              <c:spPr>
                <a:solidFill>
                  <a:schemeClr val="accent1"/>
                </a:solidFill>
                <a:ln w="9525">
                  <a:solidFill>
                    <a:schemeClr val="accent1"/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1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0ADA-48E7-A321-402E979D2202}"/>
              </c:ext>
            </c:extLst>
          </c:dPt>
          <c:cat>
            <c:strRef>
              <c:f>Sheet1!$A$2:$A$6</c:f>
              <c:strCache>
                <c:ptCount val="5"/>
                <c:pt idx="0">
                  <c:v>20YY</c:v>
                </c:pt>
                <c:pt idx="1">
                  <c:v>20YY</c:v>
                </c:pt>
                <c:pt idx="2">
                  <c:v>20YY</c:v>
                </c:pt>
                <c:pt idx="3">
                  <c:v>20YY</c:v>
                </c:pt>
                <c:pt idx="4">
                  <c:v>20YY</c:v>
                </c:pt>
              </c:strCache>
            </c:strRef>
          </c:cat>
          <c:val>
            <c:numRef>
              <c:f>Sheet1!$B$2:$B$6</c:f>
              <c:numCache>
                <c:formatCode>[$$-409]#,##0</c:formatCode>
                <c:ptCount val="5"/>
                <c:pt idx="0">
                  <c:v>0</c:v>
                </c:pt>
                <c:pt idx="1">
                  <c:v>6750</c:v>
                </c:pt>
                <c:pt idx="2">
                  <c:v>33750</c:v>
                </c:pt>
                <c:pt idx="3">
                  <c:v>135000</c:v>
                </c:pt>
                <c:pt idx="4">
                  <c:v>270000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0ADA-48E7-A321-402E979D22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00041416"/>
        <c:axId val="1000041744"/>
      </c:lineChart>
      <c:catAx>
        <c:axId val="1000041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041744"/>
        <c:crosses val="autoZero"/>
        <c:auto val="1"/>
        <c:lblAlgn val="ctr"/>
        <c:lblOffset val="100"/>
        <c:noMultiLvlLbl val="0"/>
      </c:catAx>
      <c:valAx>
        <c:axId val="1000041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[$$-4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00041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10/23/2026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er Slide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</a:t>
            </a:r>
            <a:br>
              <a:rPr lang="en-US" noProof="0" dirty="0"/>
            </a:br>
            <a:r>
              <a:rPr lang="en-US" noProof="0" dirty="0"/>
              <a:t>your Photo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/>
          <a:lstStyle>
            <a:lvl1pPr algn="r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2668686"/>
            <a:ext cx="5472000" cy="299942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Image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/>
          <a:lstStyle>
            <a:lvl1pPr algn="l"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8000" y="3763648"/>
            <a:ext cx="5472000" cy="2428351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307689"/>
            <a:ext cx="5472000" cy="3600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815037"/>
            <a:ext cx="5472000" cy="3376963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Comparison Left Placeholder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308214"/>
            <a:ext cx="5472000" cy="358775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812214"/>
            <a:ext cx="5472113" cy="3379036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0" name="Rectangle 9" descr="Accent block left">
            <a:extLst>
              <a:ext uri="{FF2B5EF4-FFF2-40B4-BE49-F238E27FC236}">
                <a16:creationId xmlns:a16="http://schemas.microsoft.com/office/drawing/2014/main" id="{BBC0CAF5-0DE6-4BEA-824E-124A54A76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1" name="Rectangle 10" descr="Accent bar right&#10;">
            <a:extLst>
              <a:ext uri="{FF2B5EF4-FFF2-40B4-BE49-F238E27FC236}">
                <a16:creationId xmlns:a16="http://schemas.microsoft.com/office/drawing/2014/main" id="{ED008080-B2F5-441A-8B15-30AE86BBF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Photo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Thank You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512000"/>
            <a:ext cx="5472000" cy="468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11250"/>
            <a:ext cx="5472113" cy="468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511476"/>
            <a:ext cx="3600450" cy="467924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511475"/>
            <a:ext cx="3600450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6000" b="1" spc="-300" dirty="0"/>
            </a:lvl1pPr>
          </a:lstStyle>
          <a:p>
            <a:pPr lvl="0" algn="r"/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/>
            <a:r>
              <a:rPr lang="en-US" noProof="0"/>
              <a:t>Click to edit Master subtitle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57760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/>
          <a:lstStyle>
            <a:lvl1pPr>
              <a:defRPr sz="60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noProof="0"/>
              <a:t>Click to edit section divider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B95064-E6BF-43CD-ACBD-6363E8D9BF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114627"/>
            <a:ext cx="5956300" cy="1095056"/>
          </a:xfr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>
              <a:buNone/>
              <a:defRPr lang="en-US">
                <a:solidFill>
                  <a:schemeClr val="bg1"/>
                </a:solidFill>
              </a:defRPr>
            </a:lvl1pPr>
          </a:lstStyle>
          <a:p>
            <a:pPr marL="266700" lvl="0" indent="-26670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2563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008000"/>
            <a:ext cx="11328000" cy="5183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62075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1E0B79-3CC8-4DCF-8AEC-AC43BC9A3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886" y="1007250"/>
            <a:ext cx="5460114" cy="5169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5546508-E26C-46CD-8939-D20E71BF4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1999" y="1007250"/>
            <a:ext cx="5448115" cy="516971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155533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016231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2" name="Rectangle 11" descr="Accent bar right&#10;">
            <a:extLst>
              <a:ext uri="{FF2B5EF4-FFF2-40B4-BE49-F238E27FC236}">
                <a16:creationId xmlns:a16="http://schemas.microsoft.com/office/drawing/2014/main" id="{3E8A46E0-47C2-4441-B7DD-F621A80F1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99887" y="1016231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D902C307-6561-4E11-9899-1F34830AE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1224128"/>
            <a:ext cx="5448115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CD73439B-6B1B-47C5-B2B0-409015FB33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2086" y="1224128"/>
            <a:ext cx="5447914" cy="3587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12AC6878-44C6-4445-A225-70C0DC482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9886" y="1955731"/>
            <a:ext cx="5447914" cy="42339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D675DA8-374F-4915-973A-53612A41F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800" y="1943031"/>
            <a:ext cx="5447914" cy="4246632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53150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5B68CA9-AC4C-4D15-9BA1-A9F1AC560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9B24D8A-D8A5-4F57-A260-A4CF75FCB3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1432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3932037" cy="1411276"/>
          </a:xfrm>
        </p:spPr>
        <p:txBody>
          <a:bodyPr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1" name="Rectangle 10" descr="Accent block left">
            <a:extLst>
              <a:ext uri="{FF2B5EF4-FFF2-40B4-BE49-F238E27FC236}">
                <a16:creationId xmlns:a16="http://schemas.microsoft.com/office/drawing/2014/main" id="{48A1A904-FE62-4BE3-BAE9-0EEAE7B1E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800" y="1892926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E50A411-2E68-4F4D-B4BC-62E87C633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20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2FBF39A8-0BD5-48FD-9993-F595D4F727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8816" y="432001"/>
            <a:ext cx="6971184" cy="54290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406333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to edit page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3A426-6D4A-4D91-ACD6-A2C25BAE44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64370" y="2033588"/>
            <a:ext cx="8863262" cy="2790825"/>
          </a:xfrm>
        </p:spPr>
        <p:txBody>
          <a:bodyPr anchor="ctr"/>
          <a:lstStyle>
            <a:lvl1pPr marL="0" indent="0" algn="ctr">
              <a:buNone/>
              <a:defRPr sz="6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2436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0433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>
              <a:lnSpc>
                <a:spcPts val="1000"/>
              </a:lnSpc>
            </a:pPr>
            <a:r>
              <a:rPr lang="en-US" sz="2500" b="1" i="0" spc="-100" baseline="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n-U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n-US" sz="1200" b="0" i="0" spc="140" baseline="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3" r:id="rId18"/>
    <p:sldLayoutId id="2147483674" r:id="rId19"/>
    <p:sldLayoutId id="2147483654" r:id="rId20"/>
    <p:sldLayoutId id="2147483655" r:id="rId21"/>
    <p:sldLayoutId id="2147483675" r:id="rId22"/>
    <p:sldLayoutId id="2147483672" r:id="rId2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0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o.microsoft.com/fwlink/?linkid=2006808&amp;clcid=0x409" TargetMode="Externa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Hands coming together in circle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/>
          <a:lstStyle/>
          <a:p>
            <a:r>
              <a:rPr lang="en-US" sz="3200"/>
              <a:t>BUDGET  VS  ACTUAL  PERFORMANCE  ANALYSIS</a:t>
            </a:r>
            <a:endParaRPr lang="en-US" sz="3200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/>
          <a:lstStyle/>
          <a:p>
            <a:r>
              <a:rPr lang="en-US" dirty="0"/>
              <a:t>Lorem ipsum dolor sit amet, adipiscing elit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C1DE0A-7865-466B-B5D7-781C92357026}"/>
              </a:ext>
            </a:extLst>
          </p:cNvPr>
          <p:cNvSpPr txBox="1"/>
          <p:nvPr/>
        </p:nvSpPr>
        <p:spPr>
          <a:xfrm>
            <a:off x="10284923" y="4241800"/>
            <a:ext cx="1402741" cy="394389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3600" b="1" i="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TREY</a:t>
            </a:r>
            <a:r>
              <a:rPr lang="en-US" sz="2400" b="1" i="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br>
              <a:rPr lang="en-US" sz="2400" b="1" i="0" spc="-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n-US" b="0" i="0" spc="14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Lorem ipsum dolor sit amet, consectetur adipiscing elit. </a:t>
            </a:r>
          </a:p>
          <a:p>
            <a:r>
              <a:rPr lang="en-US" dirty="0"/>
              <a:t>Ut fermentum a magna ut eleifend. Integer convallis suscipit ante eu varius. </a:t>
            </a:r>
          </a:p>
          <a:p>
            <a:r>
              <a:rPr lang="en-US" dirty="0"/>
              <a:t>Morbi a purus dolor. Suspendisse sit amet ipsum finibus justo viverra blandit. </a:t>
            </a:r>
          </a:p>
          <a:p>
            <a:r>
              <a:rPr lang="en-US" dirty="0"/>
              <a:t>Ut congue quis tortor eget sodales. </a:t>
            </a:r>
          </a:p>
        </p:txBody>
      </p:sp>
      <p:pic>
        <p:nvPicPr>
          <p:cNvPr id="9" name="Picture Placeholder 8" descr="Handing touching mobile phone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Lorem ipsum dolor sit amet, consectetur adipiscing elit. Etiam aliquet eu mi quis lacinia. Ut fermentum a magna ut.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Placeholder 13" descr="Hand writing on post-it note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8100" y="1869795"/>
            <a:ext cx="6641900" cy="1124345"/>
          </a:xfrm>
        </p:spPr>
        <p:txBody>
          <a:bodyPr/>
          <a:lstStyle/>
          <a:p>
            <a:r>
              <a:rPr lang="en-US" dirty="0"/>
              <a:t>Our Promise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Lorem ipsum dolor sit amet, consectetur adipiscing elit.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/>
              <a:t>Lorem ipsum dolor sit amet, consectetur adipiscing elit. </a:t>
            </a:r>
          </a:p>
          <a:p>
            <a:r>
              <a:rPr lang="en-US" dirty="0"/>
              <a:t>Ut fermentum a magna ut eleifend. Integer convallis suscipit ante eu varius. </a:t>
            </a:r>
          </a:p>
          <a:p>
            <a:r>
              <a:rPr lang="en-US" dirty="0"/>
              <a:t>Morbi a purus dolor. Suspendisse sit amet ipsum finibus justo viverra blandit. </a:t>
            </a:r>
          </a:p>
          <a:p>
            <a:r>
              <a:rPr lang="en-US" dirty="0"/>
              <a:t>Ut congue quis tortor eget sodales.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Desk with computer, phone, books, etc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Section Divider Option 1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Lorem ipsum dolor sit amet, consectetur adipiscing elit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Lorem ipsum dolor sit amet, consectetur adipiscing elit.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2442934"/>
            <a:ext cx="5472000" cy="360000"/>
          </a:xfrm>
        </p:spPr>
        <p:txBody>
          <a:bodyPr/>
          <a:lstStyle/>
          <a:p>
            <a:r>
              <a:rPr lang="en-US" dirty="0"/>
              <a:t>Trey Research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950768"/>
            <a:ext cx="5472000" cy="2194694"/>
          </a:xfrm>
        </p:spPr>
        <p:txBody>
          <a:bodyPr/>
          <a:lstStyle/>
          <a:p>
            <a:r>
              <a:rPr lang="en-US" dirty="0"/>
              <a:t>Nulla a erat eget nunc hendrerit ultrices eu nec nulla. Donec viverra leo aliquet, auctor quam id, convallis orci. </a:t>
            </a:r>
          </a:p>
          <a:p>
            <a:pPr lvl="1"/>
            <a:r>
              <a:rPr lang="en-US" dirty="0"/>
              <a:t>Sed in molestie est. Cras ornare turpis at ligula posuere, sit amet accumsan neque lobortis.</a:t>
            </a:r>
          </a:p>
          <a:p>
            <a:pPr lvl="1"/>
            <a:r>
              <a:rPr lang="en-US" dirty="0"/>
              <a:t>Maecenas mattis risus ligula, sed ullamcorper nunc efficitur sed.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/>
          <a:lstStyle/>
          <a:p>
            <a:r>
              <a:rPr lang="en-US" dirty="0"/>
              <a:t>Competitive Service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947459"/>
            <a:ext cx="5472113" cy="2196041"/>
          </a:xfrm>
        </p:spPr>
        <p:txBody>
          <a:bodyPr/>
          <a:lstStyle/>
          <a:p>
            <a:r>
              <a:rPr lang="en-US" dirty="0"/>
              <a:t>Praesent venenatis quam tortor, viverra nunc rutrum. </a:t>
            </a:r>
          </a:p>
          <a:p>
            <a:pPr lvl="1"/>
            <a:r>
              <a:rPr lang="en-US" dirty="0"/>
              <a:t>Maecenas malesuada ultricies sapien sit amet pharetra. </a:t>
            </a:r>
          </a:p>
          <a:p>
            <a:pPr lvl="1"/>
            <a:r>
              <a:rPr lang="en-US" dirty="0"/>
              <a:t>Nunc tempus, risus sodales hendrerit, arcu dolor commodo libero, a sollicitudin quam nulla quis lectus. In at porta mauris.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 descr="Woman on laptop smiling">
            <a:extLst>
              <a:ext uri="{FF2B5EF4-FFF2-40B4-BE49-F238E27FC236}">
                <a16:creationId xmlns:a16="http://schemas.microsoft.com/office/drawing/2014/main" id="{35E3CE9E-B03C-CB4B-A83A-D3265C7A054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2156226"/>
            <a:ext cx="4903599" cy="1958400"/>
          </a:xfrm>
        </p:spPr>
        <p:txBody>
          <a:bodyPr/>
          <a:lstStyle/>
          <a:p>
            <a:r>
              <a:rPr lang="en-US" dirty="0"/>
              <a:t>Section Divider Option 2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110760"/>
            <a:ext cx="4902200" cy="1100565"/>
          </a:xfrm>
        </p:spPr>
        <p:txBody>
          <a:bodyPr/>
          <a:lstStyle/>
          <a:p>
            <a:r>
              <a:rPr lang="en-US" dirty="0"/>
              <a:t>Lorem ipsum dolor sit amet, consectetur adipiscing elit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Options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D0F75-42B5-4960-8C3A-291285872D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1800" y="1008000"/>
            <a:ext cx="11339513" cy="360000"/>
          </a:xfrm>
        </p:spPr>
        <p:txBody>
          <a:bodyPr/>
          <a:lstStyle/>
          <a:p>
            <a:r>
              <a:rPr lang="en-US" dirty="0"/>
              <a:t>Lorem ipsum dolor sit amet, consectetur adipiscing elit. </a:t>
            </a:r>
          </a:p>
        </p:txBody>
      </p:sp>
      <p:graphicFrame>
        <p:nvGraphicFramePr>
          <p:cNvPr id="4" name="Chart 3" title="Gross Revenue Placeholder Chart">
            <a:extLst>
              <a:ext uri="{FF2B5EF4-FFF2-40B4-BE49-F238E27FC236}">
                <a16:creationId xmlns:a16="http://schemas.microsoft.com/office/drawing/2014/main" id="{FFE8AFAB-AE1F-4453-8C1B-70D2EF9B1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7591491"/>
              </p:ext>
            </p:extLst>
          </p:nvPr>
        </p:nvGraphicFramePr>
        <p:xfrm>
          <a:off x="431800" y="1512000"/>
          <a:ext cx="3389313" cy="444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 title="Gross Revenue Placeholder Chart">
            <a:extLst>
              <a:ext uri="{FF2B5EF4-FFF2-40B4-BE49-F238E27FC236}">
                <a16:creationId xmlns:a16="http://schemas.microsoft.com/office/drawing/2014/main" id="{9BEBE5AF-1D10-425C-8F3C-2236E52E6E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8817833"/>
              </p:ext>
            </p:extLst>
          </p:nvPr>
        </p:nvGraphicFramePr>
        <p:xfrm>
          <a:off x="4406900" y="1512000"/>
          <a:ext cx="3389313" cy="444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 title="Gross Revenue Placeholder Chart">
            <a:extLst>
              <a:ext uri="{FF2B5EF4-FFF2-40B4-BE49-F238E27FC236}">
                <a16:creationId xmlns:a16="http://schemas.microsoft.com/office/drawing/2014/main" id="{A8D5CDFF-2AF9-4CDE-BF8D-15F294BD50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506538"/>
              </p:ext>
            </p:extLst>
          </p:nvPr>
        </p:nvGraphicFramePr>
        <p:xfrm>
          <a:off x="8382000" y="1512000"/>
          <a:ext cx="3389313" cy="4444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67129-D582-495A-8F4B-6B907589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4AFD2-303D-4B48-AA3E-C96B74D8127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/>
              <a:t>Lorem ipsum dolor sit amet, consectetur adipiscing elit.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E0921D-4C1D-4106-9AC0-F73F30E8D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029760"/>
              </p:ext>
            </p:extLst>
          </p:nvPr>
        </p:nvGraphicFramePr>
        <p:xfrm>
          <a:off x="431801" y="1614845"/>
          <a:ext cx="11339510" cy="4252505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1619930">
                  <a:extLst>
                    <a:ext uri="{9D8B030D-6E8A-4147-A177-3AD203B41FA5}">
                      <a16:colId xmlns:a16="http://schemas.microsoft.com/office/drawing/2014/main" val="1173992025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15202853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010693434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608292439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007882540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3778082769"/>
                    </a:ext>
                  </a:extLst>
                </a:gridCol>
                <a:gridCol w="1619930">
                  <a:extLst>
                    <a:ext uri="{9D8B030D-6E8A-4147-A177-3AD203B41FA5}">
                      <a16:colId xmlns:a16="http://schemas.microsoft.com/office/drawing/2014/main" val="1136644251"/>
                    </a:ext>
                  </a:extLst>
                </a:gridCol>
              </a:tblGrid>
              <a:tr h="617885">
                <a:tc>
                  <a:txBody>
                    <a:bodyPr/>
                    <a:lstStyle/>
                    <a:p>
                      <a:pPr algn="ctr"/>
                      <a:endParaRPr lang="en-ZA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Vendors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Users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Consultants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Ad Buyers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Gross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1600" b="0" dirty="0">
                          <a:solidFill>
                            <a:schemeClr val="bg1"/>
                          </a:solidFill>
                          <a:latin typeface="+mj-lt"/>
                        </a:rPr>
                        <a:t>Company Revenue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223600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495943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$6,750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$1,013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2132828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$33,750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$5,063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300830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$135,000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$20,250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728417"/>
                  </a:ext>
                </a:extLst>
              </a:tr>
              <a:tr h="726924">
                <a:tc>
                  <a:txBody>
                    <a:bodyPr/>
                    <a:lstStyle/>
                    <a:p>
                      <a:pPr algn="ctr"/>
                      <a:r>
                        <a:rPr lang="en-ZA" sz="16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20YY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4000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$270,000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ZA" sz="16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$40,500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7078208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379698-AB4C-493D-BF95-F5781FDF2A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 descr="conference room">
            <a:extLst>
              <a:ext uri="{FF2B5EF4-FFF2-40B4-BE49-F238E27FC236}">
                <a16:creationId xmlns:a16="http://schemas.microsoft.com/office/drawing/2014/main" id="{8F5AE0D5-C196-A947-8AFE-449A48B2615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5" b="45"/>
          <a:stretch>
            <a:fillRect/>
          </a:stretch>
        </p:blipFill>
        <p:spPr/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6E961-B76E-423F-995E-11B31E921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71104" y="5359400"/>
            <a:ext cx="3688896" cy="565899"/>
          </a:xfrm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r>
              <a:rPr lang="en-US" dirty="0"/>
              <a:t>Full screen image with caption lorem ipsum dolor sit amet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02D98-AA1E-41BB-B94E-180311759C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1" name="Title 10" hidden="1">
            <a:extLst>
              <a:ext uri="{FF2B5EF4-FFF2-40B4-BE49-F238E27FC236}">
                <a16:creationId xmlns:a16="http://schemas.microsoft.com/office/drawing/2014/main" id="{C5462610-1D7E-437B-B516-F30D9A789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image</a:t>
            </a:r>
          </a:p>
        </p:txBody>
      </p:sp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Placeholder 31" descr="hand clapping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28E04-9C2A-4859-8050-C2DF67A249C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/>
              <a:t>April Hansson</a:t>
            </a:r>
          </a:p>
        </p:txBody>
      </p:sp>
      <p:pic>
        <p:nvPicPr>
          <p:cNvPr id="8" name="Graphic 7" descr="User" title="Icon - Presenter Name">
            <a:extLst>
              <a:ext uri="{FF2B5EF4-FFF2-40B4-BE49-F238E27FC236}">
                <a16:creationId xmlns:a16="http://schemas.microsoft.com/office/drawing/2014/main" id="{111541C4-DB03-4E53-994D-499C7D73C4DF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5495" y="4006655"/>
            <a:ext cx="218900" cy="2189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65965-2271-4C1C-BD0A-6F85F80FF9A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/>
              <a:t>+1 23 987 6554</a:t>
            </a:r>
          </a:p>
        </p:txBody>
      </p:sp>
      <p:pic>
        <p:nvPicPr>
          <p:cNvPr id="10" name="Graphic 9" descr="Smart Phone" title="Icon - Presenter Phone Number">
            <a:extLst>
              <a:ext uri="{FF2B5EF4-FFF2-40B4-BE49-F238E27FC236}">
                <a16:creationId xmlns:a16="http://schemas.microsoft.com/office/drawing/2014/main" id="{A29DE31C-E099-4579-BB03-675E0A40C5F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85495" y="4355103"/>
            <a:ext cx="218900" cy="2189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A3BCC3-A277-4C0B-9EBA-EB53990D8E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/>
              <a:t>april@treyresearch.com</a:t>
            </a:r>
          </a:p>
        </p:txBody>
      </p:sp>
      <p:pic>
        <p:nvPicPr>
          <p:cNvPr id="9" name="Graphic 8" descr="Envelope" title="Icon Presenter Email">
            <a:extLst>
              <a:ext uri="{FF2B5EF4-FFF2-40B4-BE49-F238E27FC236}">
                <a16:creationId xmlns:a16="http://schemas.microsoft.com/office/drawing/2014/main" id="{773C1382-ACE1-460F-A1B6-AB761A7D2E6B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85495" y="4703551"/>
            <a:ext cx="218900" cy="218900"/>
          </a:xfrm>
          <a:prstGeom prst="rect">
            <a:avLst/>
          </a:prstGeom>
        </p:spPr>
      </p:pic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D8A1232-50A8-4535-AAF9-7F4180EAA0D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solidFill>
            <a:schemeClr val="tx1">
              <a:lumMod val="75000"/>
              <a:lumOff val="25000"/>
            </a:schemeClr>
          </a:solidFill>
        </p:spPr>
        <p:txBody>
          <a:bodyPr/>
          <a:lstStyle/>
          <a:p>
            <a:r>
              <a:rPr lang="en-US" dirty="0"/>
              <a:t>Trey Research</a:t>
            </a:r>
          </a:p>
        </p:txBody>
      </p:sp>
      <p:pic>
        <p:nvPicPr>
          <p:cNvPr id="11" name="Graphic 10" descr="Link">
            <a:extLst>
              <a:ext uri="{FF2B5EF4-FFF2-40B4-BE49-F238E27FC236}">
                <a16:creationId xmlns:a16="http://schemas.microsoft.com/office/drawing/2014/main" id="{0718E6E0-05A2-479C-AEA8-1A385EB73474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72552" y="5040763"/>
            <a:ext cx="244786" cy="244786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Customize this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C54E2-35CD-4B4C-8AF6-A9BBA506FC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u="sng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Template Editing Instructions and Feedback</a:t>
            </a:r>
            <a:endParaRPr lang="en-US" u="sng" dirty="0">
              <a:solidFill>
                <a:srgbClr val="0070C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78354A-41D5-43F7-A38D-3C946669B3C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solidFill>
            <a:schemeClr val="tx1">
              <a:lumMod val="95000"/>
              <a:lumOff val="5000"/>
            </a:schemeClr>
          </a:solidFill>
        </p:spPr>
        <p:txBody>
          <a:bodyPr/>
          <a:lstStyle/>
          <a:p>
            <a:fld id="{19B51A1E-902D-48AF-9020-955120F399B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0_Bright business presentation_AAS_v3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245E38-7A2C-4D38-96FA-24EAC5F220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90D0D0-7C1D-47FF-A2F0-9937AA567A3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8E15EA0-2F38-456B-B156-038699A5D17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Bright business presentation</Template>
  <TotalTime>1</TotalTime>
  <Words>407</Words>
  <Application>Microsoft Office PowerPoint</Application>
  <PresentationFormat>Widescreen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Candara</vt:lpstr>
      <vt:lpstr>Corbel</vt:lpstr>
      <vt:lpstr>Times New Roman</vt:lpstr>
      <vt:lpstr>Custom</vt:lpstr>
      <vt:lpstr>BUDGET  VS  ACTUAL  PERFORMANCE  ANALYSIS</vt:lpstr>
      <vt:lpstr>About Us</vt:lpstr>
      <vt:lpstr>Our Promise</vt:lpstr>
      <vt:lpstr>Section Divider Option 1</vt:lpstr>
      <vt:lpstr>Comparison</vt:lpstr>
      <vt:lpstr>Section Divider Option 2</vt:lpstr>
      <vt:lpstr>Chart Options</vt:lpstr>
      <vt:lpstr>Table</vt:lpstr>
      <vt:lpstr>Large image</vt:lpstr>
      <vt:lpstr>Thank You</vt:lpstr>
      <vt:lpstr>Customize this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Kamaladevi E</dc:creator>
  <cp:lastModifiedBy>Kamaladevi E</cp:lastModifiedBy>
  <cp:revision>1</cp:revision>
  <dcterms:created xsi:type="dcterms:W3CDTF">2026-10-23T15:54:58Z</dcterms:created>
  <dcterms:modified xsi:type="dcterms:W3CDTF">2026-10-23T15:55:59Z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